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Noto Sans TC"/>
      <ns0:bold ns1:id="rIdFont12"/>
      <ns0:regular ns1:id="rIdFont13"/>
    </ns0:embeddedFont>
    <ns0:embeddedFont>
      <ns0:font typeface="Space Grotesk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164b2c76-6f8b-4707-974a-161019dbca5c.fntdata" /><ns0:Relationship Id="rIdFont13" Type="http://schemas.openxmlformats.org/officeDocument/2006/relationships/font" Target="fonts/58d3f46a-ed16-4ba1-bb20-585547f1477f.fntdata" /><ns0:Relationship Id="rIdFont14" Type="http://schemas.openxmlformats.org/officeDocument/2006/relationships/font" Target="fonts/8f99b0d7-d23f-4b9c-932f-687bf18e6d0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33400"/>
            <a:ext cx="1959322" cy="2667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353817"/>
            <a:ext cx="914697" cy="657225"/>
          </a:xfrm>
          <a:prstGeom prst="roundRect">
            <a:avLst>
              <a:gd name="adj" fmla="val 17391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76697" y="4353817"/>
            <a:ext cx="1629072" cy="657225"/>
          </a:xfrm>
          <a:prstGeom prst="roundRect">
            <a:avLst>
              <a:gd name="adj" fmla="val 17391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382" y="1681162"/>
            <a:ext cx="4811017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4167" y="566737"/>
            <a:ext cx="148232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957" y="1709737"/>
            <a:ext cx="4753867" cy="3562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153150"/>
            <a:ext cx="417537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59E0B"/>
                </a:solidFill>
                <a:latin typeface="Noto Sans TC"/>
              </a:rPr>
              <a:t>「Darlin’！今天不放電，來教大家怎麼『充電』囉⚡！」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0938" y="6162675"/>
            <a:ext cx="102721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Space Grotesk"/>
              </a:rPr>
              <a:t>Slide 01 /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590550"/>
            <a:ext cx="178787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TC"/>
              </a:rPr>
              <a:t>3D PRINTING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3222" y="590550"/>
            <a:ext cx="95324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Space Grotesk"/>
              </a:rPr>
              <a:t>2026.10.07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70782"/>
            <a:ext cx="7054527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59E0B"/>
                </a:solidFill>
                <a:latin typeface="Noto Sans TC"/>
              </a:rPr>
              <a:t>放電少女 × 3D列印工藝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342257"/>
            <a:ext cx="6089823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Noto Sans TC"/>
              </a:rPr>
              <a:t>Lum 的充電魔法！</a:t>
            </a:r>
            <a:r>
              <a:t>
</a:t>
            </a:r>
            <a:r>
              <a:rPr b="1" sz="3300" i="0" u="none">
                <a:solidFill>
                  <a:srgbClr val="38BDF8"/>
                </a:solidFill>
                <a:latin typeface="Noto Sans TC"/>
              </a:rPr>
              <a:t>Daniel 的 iPhone 充電座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538537"/>
            <a:ext cx="5799832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Noto Sans TC"/>
              </a:rPr>
              <a:t>當「放電」遇上「充電」—— 利用 3D 列印打造專屬 iOS StandBy 待機模式基地，特邀特派發言人拉姆（Lum）熱情代言！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477642"/>
            <a:ext cx="80039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Noto Sans TC"/>
              </a:rPr>
              <a:t>創作者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687192"/>
            <a:ext cx="8003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Noto Sans TC"/>
              </a:rPr>
              <a:t>Daniel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6722" y="4477642"/>
            <a:ext cx="15362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Noto Sans TC"/>
              </a:rPr>
              <a:t>產品名稱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6722" y="4687192"/>
            <a:ext cx="15362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Noto Sans TC"/>
              </a:rPr>
              <a:t>MagSafe 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00050"/>
          </a:xfrm>
          <a:prstGeom prst="roundRect">
            <a:avLst>
              <a:gd name="adj" fmla="val 238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2081212"/>
            <a:ext cx="5286375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290887"/>
            <a:ext cx="5286375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6025" y="4500562"/>
            <a:ext cx="5286375" cy="542925"/>
          </a:xfrm>
          <a:prstGeom prst="roundRect">
            <a:avLst>
              <a:gd name="adj" fmla="val 2105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96025" y="2081212"/>
            <a:ext cx="47625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3290887"/>
            <a:ext cx="47625" cy="10191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530542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48375"/>
            <a:ext cx="118616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762125"/>
            <a:ext cx="5286375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343150"/>
            <a:ext cx="148232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552825"/>
            <a:ext cx="148232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50" y="4700587"/>
            <a:ext cx="11117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43624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Noto Sans TC"/>
              </a:rPr>
              <a:t>DESIGN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0938" y="533400"/>
            <a:ext cx="102721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Grotesk"/>
              </a:rPr>
              <a:t>Slide 02 /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116" y="6038850"/>
            <a:ext cx="466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Noto Sans TC"/>
              </a:rPr>
              <a:t>設計重點：結合實用性與公差控制，打造極致的桌面充電體驗。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56007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痛點點擊：桌面混亂與待機體驗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643187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TC"/>
              </a:rPr>
              <a:t>精準傾斜角度，擺在桌上直接變成質感時鐘與電量監控中心。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852862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TC"/>
              </a:rPr>
              <a:t>告別亂七八糟的線材，讓 Apple 磁吸充電器擁有安穩的硬殼家園。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4681537"/>
            <a:ext cx="5695950" cy="180975"/>
          </a:xfrm>
          <a:prstGeom prst="rect">
            <a:avLst/>
          </a:prstGeom>
          <a:noFill/>
        </p:spPr>
        <p:txBody>
          <a:bodyPr wrap="none" lIns="168324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Noto Sans TC"/>
              </a:rPr>
              <a:t>手機亂放就像諸星當一樣欠電！有了這個基地，時間電量一目瞭然！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5732" y="2309812"/>
            <a:ext cx="283414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iOS StandBy 最佳視覺角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5732" y="3519487"/>
            <a:ext cx="209791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TC"/>
              </a:rPr>
              <a:t>MagSafe 穩固吸附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0500" y="1428750"/>
            <a:ext cx="3771900" cy="4333875"/>
          </a:xfrm>
          <a:prstGeom prst="roundRect">
            <a:avLst>
              <a:gd name="adj" fmla="val 4040"/>
            </a:avLst>
          </a:prstGeom>
          <a:solidFill>
            <a:srgbClr val="FFF1F2"/>
          </a:solidFill>
          <a:ln w="9525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48162"/>
            <a:ext cx="32956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10050" y="4262437"/>
            <a:ext cx="329565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8625" y="4095750"/>
            <a:ext cx="329565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48162"/>
            <a:ext cx="32956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10050" y="4262437"/>
            <a:ext cx="3295650" cy="285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0262"/>
            <a:ext cx="3295650" cy="2095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2014537"/>
            <a:ext cx="3295650" cy="2095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2562225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162675"/>
            <a:ext cx="118616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6162675"/>
            <a:ext cx="118616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6162675"/>
            <a:ext cx="118616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109787"/>
            <a:ext cx="3276600" cy="2076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575" y="2024062"/>
            <a:ext cx="3276600" cy="2076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4058" y="2676525"/>
            <a:ext cx="148232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405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Noto Sans TC"/>
              </a:rPr>
              <a:t>MECHANICAL &amp; CABLE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40938" y="533400"/>
            <a:ext cx="102721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Grotesk"/>
              </a:rPr>
              <a:t>Slide 03 /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81050"/>
            <a:ext cx="52006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機構解析：沉頭槽與理線設計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8625" y="3133725"/>
            <a:ext cx="4143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81337"/>
                </a:solidFill>
                <a:latin typeface="Noto Sans TC"/>
              </a:rPr>
              <a:t>紅白撞色亮點件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8625" y="3486150"/>
            <a:ext cx="3390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F1239"/>
                </a:solidFill>
                <a:latin typeface="Noto Sans TC"/>
              </a:rPr>
              <a:t>紅色小模組不僅作為結構固定卡扣，更為米白本體點綴出絕佳視覺對比！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1975" y="4191000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E123C"/>
                </a:solidFill>
                <a:latin typeface="Noto Sans TC"/>
              </a:rPr>
              <a:t>⚡ 拉姆點評：「紅色小配件就像我頭上的角一樣是亮點喔！」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416" y="6153150"/>
            <a:ext cx="1219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TC"/>
              </a:rPr>
              <a:t>零膠水卡榫固定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8216" y="6153150"/>
            <a:ext cx="1219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TC"/>
              </a:rPr>
              <a:t>防彎折出線保護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2016" y="6153150"/>
            <a:ext cx="1219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TC"/>
              </a:rPr>
              <a:t>多件式分色組裝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529137"/>
            <a:ext cx="38254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TC"/>
              </a:rPr>
              <a:t>MagSafe 沉頭定位槽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767262"/>
            <a:ext cx="3643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TC"/>
              </a:rPr>
              <a:t>精確公差量測，充電器嵌入後完全平整不晃動。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550" y="4443412"/>
            <a:ext cx="38254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TC"/>
              </a:rPr>
              <a:t>背部隱藏式理線通道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0550" y="4681537"/>
            <a:ext cx="3009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TC"/>
              </a:rPr>
              <a:t>開孔專為編織線設計，防止拉扯同時維持極簡視覺。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3150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38614" y="2195512"/>
            <a:ext cx="5043785" cy="1143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38614" y="3529012"/>
            <a:ext cx="5043785" cy="1143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38614" y="4862512"/>
            <a:ext cx="5043785" cy="457200"/>
          </a:xfrm>
          <a:prstGeom prst="roundRect">
            <a:avLst>
              <a:gd name="adj" fmla="val 2083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76739" y="2386012"/>
            <a:ext cx="647700" cy="209550"/>
          </a:xfrm>
          <a:prstGeom prst="roundRect">
            <a:avLst>
              <a:gd name="adj" fmla="val 2727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76739" y="3719512"/>
            <a:ext cx="647700" cy="2095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3898" y="2947987"/>
            <a:ext cx="1718071" cy="180975"/>
          </a:xfrm>
          <a:prstGeom prst="roundRect">
            <a:avLst>
              <a:gd name="adj" fmla="val 210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2162"/>
            <a:ext cx="2697807" cy="171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07" y="2062162"/>
            <a:ext cx="2697807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29062"/>
            <a:ext cx="5548014" cy="1524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71687"/>
            <a:ext cx="2678757" cy="1695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332" y="2071687"/>
            <a:ext cx="2678757" cy="1695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3938587"/>
            <a:ext cx="5528964" cy="1504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589" y="5024437"/>
            <a:ext cx="96440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344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Noto Sans TC"/>
              </a:rPr>
              <a:t>PERSONALIZATION &amp; DETAILING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0938" y="533400"/>
            <a:ext cx="102721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Grotesk"/>
              </a:rPr>
              <a:t>Slide 04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44005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TC"/>
              </a:rPr>
              <a:t>專屬刻印與外觀切角工藝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1989" y="2424112"/>
            <a:ext cx="552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Noto Sans TC"/>
              </a:rPr>
              <a:t>文字浮雕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6739" y="2652712"/>
            <a:ext cx="54152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TC"/>
              </a:rPr>
              <a:t>雙色品牌與里程碑刻印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6739" y="2938462"/>
            <a:ext cx="54152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Noto Sans TC"/>
              </a:rPr>
              <a:t>正面底座印有 ，紀錄列印學習里程碑。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1989" y="3757612"/>
            <a:ext cx="5524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Noto Sans TC"/>
              </a:rPr>
              <a:t>外觀倒角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6739" y="3986212"/>
            <a:ext cx="54152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TC"/>
              </a:rPr>
              <a:t>八角大倒角造型外框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6739" y="4271962"/>
            <a:ext cx="54152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Noto Sans TC"/>
              </a:rPr>
              <a:t>有效減少 3D 列印直角堆疊溢料問題，同時賦予硬朗的科技幾何感。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9589" y="5005387"/>
            <a:ext cx="5472410" cy="171450"/>
          </a:xfrm>
          <a:prstGeom prst="rect">
            <a:avLst/>
          </a:prstGeom>
          <a:noFill/>
        </p:spPr>
        <p:txBody>
          <a:bodyPr wrap="none" lIns="13454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Noto Sans TC"/>
              </a:rPr>
              <a:t>鮮紅與米白的經典配重，跟拉姆的老虎斑紋一樣搶眼！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048" y="2967037"/>
            <a:ext cx="203328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11D48"/>
                </a:solidFill>
                <a:latin typeface="Space Grotesk"/>
              </a:rPr>
              <a:t>Phone stand Daniel 20261007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33400"/>
            <a:ext cx="1721197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460527"/>
            <a:ext cx="5504408" cy="523875"/>
          </a:xfrm>
          <a:prstGeom prst="roundRect">
            <a:avLst>
              <a:gd name="adj" fmla="val 21818"/>
            </a:avLst>
          </a:prstGeom>
          <a:solidFill>
            <a:srgbClr val="3F1A3E"/>
          </a:solidFill>
          <a:ln w="9525">
            <a:solidFill>
              <a:srgbClr val="681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260377"/>
            <a:ext cx="5504408" cy="409575"/>
          </a:xfrm>
          <a:prstGeom prst="roundRect">
            <a:avLst>
              <a:gd name="adj" fmla="val 23255"/>
            </a:avLst>
          </a:prstGeom>
          <a:solidFill>
            <a:srgbClr val="23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784252"/>
            <a:ext cx="5504408" cy="409575"/>
          </a:xfrm>
          <a:prstGeom prst="roundRect">
            <a:avLst>
              <a:gd name="adj" fmla="val 23255"/>
            </a:avLst>
          </a:prstGeom>
          <a:solidFill>
            <a:srgbClr val="23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08" y="1681162"/>
            <a:ext cx="5011191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783" y="1709737"/>
            <a:ext cx="4954041" cy="3371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88965"/>
            <a:ext cx="118616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50" y="590550"/>
            <a:ext cx="154974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Noto Sans TC"/>
              </a:rPr>
              <a:t>PROJECT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40938" y="590550"/>
            <a:ext cx="102721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Space Grotesk"/>
              </a:rPr>
              <a:t>Slide 05 /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53150"/>
            <a:ext cx="213959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TC"/>
              </a:rPr>
              <a:t>謝謝大家的聆聽！Q &amp; A 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3748" y="6162675"/>
            <a:ext cx="169831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59E0B"/>
                </a:solidFill>
                <a:latin typeface="Space Grotesk"/>
              </a:rPr>
              <a:t>CREATED BY DANIEL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806922"/>
            <a:ext cx="722453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Noto Sans TC"/>
              </a:rPr>
              <a:t>通電成功！電量 100% 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445097"/>
            <a:ext cx="5599658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Noto Sans TC"/>
              </a:rPr>
              <a:t>Daniel 的第一個 3D 列印作品大成功！成功驗證公差控制、多件組裝與個人化設計。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622452"/>
            <a:ext cx="63804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ECDD3"/>
                </a:solidFill>
                <a:latin typeface="Noto Sans TC"/>
              </a:rPr>
              <a:t>「不給我高分的話……我就要放電囉⚡⚡⚡！」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916" y="3374677"/>
            <a:ext cx="361205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1F5F9"/>
                </a:solidFill>
                <a:latin typeface="Noto Sans TC"/>
              </a:rPr>
              <a:t>未來展望：嘗試 PETG / 木質 PLA 等多元材質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898552"/>
            <a:ext cx="360554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1F5F9"/>
                </a:solidFill>
                <a:latin typeface="Noto Sans TC"/>
              </a:rPr>
              <a:t>功能升級：規劃加入 Apple Watch 二合一充座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